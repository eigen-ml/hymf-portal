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apak" id="{58a29e1f-c0e3-9645-2468-9bc23cfaa7be}">
          <p14:sldIdLst>
            <p14:sldId id="256"/>
          </p14:sldIdLst>
        </p14:section>
        <p14:section name="Giriş" id="{1bcff802-b92b-1e1d-a8c6-1ae7885a0154}">
          <p14:sldIdLst>
            <p14:sldId id="257"/>
            <p14:sldId id="258"/>
          </p14:sldIdLst>
        </p14:section>
        <p14:section name="Yöntem" id="{f5411257-40dc-f3a4-4df2-bc6033bb4827}">
          <p14:sldIdLst>
            <p14:sldId id="259"/>
            <p14:sldId id="260"/>
            <p14:sldId id="261"/>
          </p14:sldIdLst>
        </p14:section>
        <p14:section name="Bulgular" id="{60b401fc-2362-c141-e91a-62f4baa40e12}">
          <p14:sldIdLst>
            <p14:sldId id="262"/>
            <p14:sldId id="263"/>
            <p14:sldId id="264"/>
          </p14:sldIdLst>
        </p14:section>
        <p14:section name="Sonuç" id="{9595090b-5094-6465-112e-8f23ef887b64}">
          <p14:sldIdLst>
            <p14:sldId id="265"/>
          </p14:sldIdLst>
        </p14:section>
        <p14:section name="Kaynakça" id="{10912ed0-4d30-a977-472b-7fb8a4ac4d46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Kapak: başlığı, adınızı, öğrenci numaranızı, danışmanınızı ve tarihi doldurun. Üstteki HYMF etiketi sabit kalabilir.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Bölüm sayısını sunumunuza göre artırıp azaltın. Bölüm adlarıyla aşağıdaki ayırıcı slaytlar aynı olsun.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Giriş: dinleyiciye konunun neden önemli olduğunu 3–4 maddeyle anlatın. Literatürden aldığınız her bilgiye kaynak numarası verin.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Bölüm ayırıcı: her ana bölümün başına bir tane koyun, numarayı değiştirin.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Örnek değerler Band_Calculation_w_vasp sunumundan alındı; kendi hesabınızın değerleriyle değiştirin.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Kod / dosya içeriği göstermek için: soldaki mavi kutuya dosyanızı yapıştırın, sağda önemli satırları açıklayın.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/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Tek büyük şekil slaytı. Şekli kutunun yerine koyun, kutuyu silin. Şekil numarası ve açıklaması kalsın.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/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/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APA 7: liste ilk yazarın soyadına göre alfabetik, dergi adı ve cilt italik, DOI link olarak. Metin içinde (Soyad, Yıl) ya da iki yazarda (Soyad &amp; Soyad, Yıl), üç ve üstü yazarda (Soyad vd., Yıl) yazın. VASP kullanan her sunumda Kresse &amp; Furthmüller, Kresse &amp; Joubert ve kullandığınız fonksiyonelin kaynağı kalmalı.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/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KAPA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CERIK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BOLUM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KAPANIS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47548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1200" b="1" spc="200" kern="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tr-TR" sz="1200" b="1" spc="200" kern="0" dirty="0">
                <a:solidFill>
                  <a:schemeClr val="bg2"/>
                </a:solidFill>
              </a:rPr>
              <a:t>HYMF · HESAPLAMALI YOĞUN MADDE FİZİĞİ</a:t>
            </a:r>
            <a:endParaRPr lang="tr-T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88720"/>
            <a:ext cx="49377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3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tr-TR" sz="3600" dirty="0">
                <a:solidFill>
                  <a:schemeClr val="bg1"/>
                </a:solidFill>
              </a:rPr>
              <a:t>Sunum Başlığı</a:t>
            </a:r>
            <a:endParaRPr lang="tr-TR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9377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tr-TR" sz="1800" dirty="0">
                <a:solidFill>
                  <a:schemeClr val="bg2"/>
                </a:solidFill>
              </a:rPr>
              <a:t>Alt başlık</a:t>
            </a:r>
            <a:endParaRPr lang="tr-TR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337560"/>
            <a:ext cx="49377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1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tr-TR" sz="1400" dirty="0">
                <a:solidFill>
                  <a:schemeClr val="bg1"/>
                </a:solidFill>
              </a:rPr>
              <a:t>Ad Soyad</a:t>
            </a:r>
            <a:endParaRPr lang="tr-TR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617720"/>
            <a:ext cx="50292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tr-TR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3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tr-TR" sz="3000" dirty="0">
                <a:solidFill>
                  <a:schemeClr val="bg1"/>
                </a:solidFill>
              </a:rPr>
              <a:t>Slayt başlığı</a:t>
            </a:r>
            <a:endParaRPr lang="tr-T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617720"/>
            <a:ext cx="50292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tr-TR"/>
              <a:t>1003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UM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617720"/>
            <a:ext cx="50292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tr-TR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1600200"/>
            <a:ext cx="14630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tr-TR" sz="7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tr-TR" sz="7200" b="1" dirty="0">
                <a:solidFill>
                  <a:schemeClr val="accent1"/>
                </a:solidFill>
              </a:rPr>
              <a:t>01</a:t>
            </a:r>
            <a:endParaRPr lang="tr-TR" sz="7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2103120" y="1600200"/>
            <a:ext cx="5669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tr-TR" sz="3600" dirty="0">
                <a:solidFill>
                  <a:schemeClr val="tx1"/>
                </a:solidFill>
              </a:rPr>
              <a:t>Bölüm başlığı</a:t>
            </a:r>
            <a:endParaRPr lang="tr-TR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2103120" y="2423160"/>
            <a:ext cx="56692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tr-TR" sz="1600" dirty="0">
                <a:solidFill>
                  <a:schemeClr val="tx2"/>
                </a:solidFill>
              </a:rPr>
              <a:t>Bu bölümde anlatılacak olan tek cümle</a:t>
            </a:r>
            <a:endParaRPr lang="tr-T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617720"/>
            <a:ext cx="50292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tr-TR"/>
              <a:t>1004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NI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4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tr-TR" sz="4400" dirty="0">
                <a:solidFill>
                  <a:schemeClr val="bg1"/>
                </a:solidFill>
              </a:rPr>
              <a:t>Teşekkürler</a:t>
            </a:r>
            <a:endParaRPr lang="tr-TR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49377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tr-TR" sz="2200" dirty="0">
                <a:solidFill>
                  <a:schemeClr val="bg2"/>
                </a:solidFill>
              </a:rPr>
              <a:t>Sorunuz varsa sorabilirsiniz.</a:t>
            </a:r>
            <a:endParaRPr lang="tr-TR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8328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1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tr-TR" sz="1400" dirty="0">
                <a:solidFill>
                  <a:schemeClr val="bg1"/>
                </a:solidFill>
              </a:rPr>
              <a:t>Ad Soyad · e-posta</a:t>
            </a:r>
            <a:endParaRPr lang="tr-TR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617720"/>
            <a:ext cx="50292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tr-TR" sz="1200" b="1" spc="200" kern="0" dirty="0">
                <a:solidFill>
                  <a:schemeClr val="bg2"/>
                </a:solidFill>
              </a:rPr>
              <a:t>HYMF · HESAPLAMALI YOĞUN MADDE FİZİĞİ</a:t>
            </a:r>
            <a:endParaRPr lang="tr-TR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88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tr-TR" sz="3600" dirty="0">
                <a:solidFill>
                  <a:schemeClr val="bg1"/>
                </a:solidFill>
              </a:rPr>
              <a:t>Sunum Başlığı Buraya</a:t>
            </a:r>
            <a:endParaRPr lang="tr-TR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800" dirty="0">
                <a:solidFill>
                  <a:schemeClr val="bg2"/>
                </a:solidFill>
              </a:rPr>
              <a:t>Alt başlık veya çalışılan sistem (ör. Silisen’in bant yapısı)</a:t>
            </a:r>
            <a:endParaRPr lang="tr-TR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3375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bg1"/>
                </a:solidFill>
              </a:rPr>
              <a:t>Ad Soyad</a:t>
            </a:r>
            <a:endParaRPr lang="tr-TR" sz="1400" dirty="0"/>
          </a:p>
          <a:p>
            <a:pPr algn="l" indent="0" marL="0">
              <a:buNone/>
            </a:pPr>
            <a:r>
              <a:rPr lang="tr-TR" sz="1400" dirty="0">
                <a:solidFill>
                  <a:schemeClr val="bg1"/>
                </a:solidFill>
              </a:rPr>
              <a:t>Öğrenci No: 000000000</a:t>
            </a:r>
            <a:endParaRPr lang="tr-TR" sz="1400" dirty="0"/>
          </a:p>
          <a:p>
            <a:pPr algn="l" indent="0" marL="0">
              <a:buNone/>
            </a:pPr>
            <a:r>
              <a:rPr lang="tr-TR" sz="1400" dirty="0">
                <a:solidFill>
                  <a:schemeClr val="bg1"/>
                </a:solidFill>
              </a:rPr>
              <a:t>Danışman: Unvan Ad Soyad</a:t>
            </a:r>
            <a:endParaRPr lang="tr-TR" sz="1400" dirty="0"/>
          </a:p>
          <a:p>
            <a:pPr algn="l" indent="0" marL="0">
              <a:buNone/>
            </a:pPr>
            <a:r>
              <a:rPr lang="tr-TR" sz="1400" dirty="0">
                <a:solidFill>
                  <a:schemeClr val="bg1"/>
                </a:solidFill>
              </a:rPr>
              <a:t>Tarih: GG.AA.YYYY</a:t>
            </a:r>
            <a:endParaRPr lang="tr-TR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731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tr-TR" sz="3000" dirty="0">
                <a:solidFill>
                  <a:schemeClr val="bg1"/>
                </a:solidFill>
              </a:rPr>
              <a:t>İçindekiler</a:t>
            </a:r>
            <a:endParaRPr lang="tr-TR" sz="3000" dirty="0"/>
          </a:p>
        </p:txBody>
      </p:sp>
      <p:sp>
        <p:nvSpPr>
          <p:cNvPr id="3" name="İçindekiler numara 1"/>
          <p:cNvSpPr/>
          <p:nvPr/>
        </p:nvSpPr>
        <p:spPr>
          <a:xfrm>
            <a:off x="914400" y="11521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bg1"/>
                </a:solidFill>
              </a:rPr>
              <a:t>1</a:t>
            </a:r>
            <a:endParaRPr lang="tr-TR" sz="1600" dirty="0"/>
          </a:p>
        </p:txBody>
      </p:sp>
      <p:sp>
        <p:nvSpPr>
          <p:cNvPr id="4" name="İçindekiler madde 1"/>
          <p:cNvSpPr txBox="1"/>
          <p:nvPr/>
        </p:nvSpPr>
        <p:spPr>
          <a:xfrm>
            <a:off x="1554480" y="10972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800" b="1" dirty="0">
                <a:solidFill>
                  <a:schemeClr val="tx1"/>
                </a:solidFill>
              </a:rPr>
              <a:t>Giriş</a:t>
            </a:r>
            <a:endParaRPr lang="tr-TR" sz="1800" dirty="0"/>
          </a:p>
          <a:p>
            <a:pPr indent="0" marL="0">
              <a:buNone/>
            </a:pPr>
            <a:r>
              <a:rPr lang="tr-TR" sz="1300" dirty="0">
                <a:solidFill>
                  <a:schemeClr val="tx2"/>
                </a:solidFill>
              </a:rPr>
              <a:t>Konu, motivasyon ve amaç</a:t>
            </a:r>
            <a:endParaRPr lang="tr-TR" sz="1800" dirty="0"/>
          </a:p>
        </p:txBody>
      </p:sp>
      <p:sp>
        <p:nvSpPr>
          <p:cNvPr id="5" name="İçindekiler numara 2"/>
          <p:cNvSpPr/>
          <p:nvPr/>
        </p:nvSpPr>
        <p:spPr>
          <a:xfrm>
            <a:off x="914400" y="1810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bg1"/>
                </a:solidFill>
              </a:rPr>
              <a:t>2</a:t>
            </a:r>
            <a:endParaRPr lang="tr-TR" sz="1600" dirty="0"/>
          </a:p>
        </p:txBody>
      </p:sp>
      <p:sp>
        <p:nvSpPr>
          <p:cNvPr id="6" name="İçindekiler madde 2"/>
          <p:cNvSpPr txBox="1"/>
          <p:nvPr/>
        </p:nvSpPr>
        <p:spPr>
          <a:xfrm>
            <a:off x="1554480" y="175564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800" b="1" dirty="0">
                <a:solidFill>
                  <a:schemeClr val="tx1"/>
                </a:solidFill>
              </a:rPr>
              <a:t>Yöntem</a:t>
            </a:r>
            <a:endParaRPr lang="tr-TR" sz="1800" dirty="0"/>
          </a:p>
          <a:p>
            <a:pPr indent="0" marL="0">
              <a:buNone/>
            </a:pPr>
            <a:r>
              <a:rPr lang="tr-TR" sz="1300" dirty="0">
                <a:solidFill>
                  <a:schemeClr val="tx2"/>
                </a:solidFill>
              </a:rPr>
              <a:t>Hesap yöntemi ve parametreler</a:t>
            </a:r>
            <a:endParaRPr lang="tr-TR" sz="1800" dirty="0"/>
          </a:p>
        </p:txBody>
      </p:sp>
      <p:sp>
        <p:nvSpPr>
          <p:cNvPr id="7" name="İçindekiler numara 3"/>
          <p:cNvSpPr/>
          <p:nvPr/>
        </p:nvSpPr>
        <p:spPr>
          <a:xfrm>
            <a:off x="914400" y="2468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bg1"/>
                </a:solidFill>
              </a:rPr>
              <a:t>3</a:t>
            </a:r>
            <a:endParaRPr lang="tr-TR" sz="1600" dirty="0"/>
          </a:p>
        </p:txBody>
      </p:sp>
      <p:sp>
        <p:nvSpPr>
          <p:cNvPr id="8" name="İçindekiler madde 3"/>
          <p:cNvSpPr txBox="1"/>
          <p:nvPr/>
        </p:nvSpPr>
        <p:spPr>
          <a:xfrm>
            <a:off x="1554480" y="241401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800" b="1" dirty="0">
                <a:solidFill>
                  <a:schemeClr val="tx1"/>
                </a:solidFill>
              </a:rPr>
              <a:t>Bulgular</a:t>
            </a:r>
            <a:endParaRPr lang="tr-TR" sz="1800" dirty="0"/>
          </a:p>
          <a:p>
            <a:pPr indent="0" marL="0">
              <a:buNone/>
            </a:pPr>
            <a:r>
              <a:rPr lang="tr-TR" sz="1300" dirty="0">
                <a:solidFill>
                  <a:schemeClr val="tx2"/>
                </a:solidFill>
              </a:rPr>
              <a:t>Sonuçlar ve şekiller</a:t>
            </a:r>
            <a:endParaRPr lang="tr-TR" sz="1800" dirty="0"/>
          </a:p>
        </p:txBody>
      </p:sp>
      <p:sp>
        <p:nvSpPr>
          <p:cNvPr id="9" name="İçindekiler numara 4"/>
          <p:cNvSpPr/>
          <p:nvPr/>
        </p:nvSpPr>
        <p:spPr>
          <a:xfrm>
            <a:off x="914400" y="3127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bg1"/>
                </a:solidFill>
              </a:rPr>
              <a:t>4</a:t>
            </a:r>
            <a:endParaRPr lang="tr-TR" sz="1600" dirty="0"/>
          </a:p>
        </p:txBody>
      </p:sp>
      <p:sp>
        <p:nvSpPr>
          <p:cNvPr id="10" name="İçindekiler madde 4"/>
          <p:cNvSpPr txBox="1"/>
          <p:nvPr/>
        </p:nvSpPr>
        <p:spPr>
          <a:xfrm>
            <a:off x="1554480" y="307238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800" b="1" dirty="0">
                <a:solidFill>
                  <a:schemeClr val="tx1"/>
                </a:solidFill>
              </a:rPr>
              <a:t>Sonuç</a:t>
            </a:r>
            <a:endParaRPr lang="tr-TR" sz="1800" dirty="0"/>
          </a:p>
          <a:p>
            <a:pPr indent="0" marL="0">
              <a:buNone/>
            </a:pPr>
            <a:r>
              <a:rPr lang="tr-TR" sz="1300" dirty="0">
                <a:solidFill>
                  <a:schemeClr val="tx2"/>
                </a:solidFill>
              </a:rPr>
              <a:t>Özet ve sonraki adımlar</a:t>
            </a:r>
            <a:endParaRPr lang="tr-TR" sz="1800" dirty="0"/>
          </a:p>
        </p:txBody>
      </p:sp>
      <p:sp>
        <p:nvSpPr>
          <p:cNvPr id="11" name="İçindekiler numara 5"/>
          <p:cNvSpPr/>
          <p:nvPr/>
        </p:nvSpPr>
        <p:spPr>
          <a:xfrm>
            <a:off x="914400" y="37856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bg1"/>
                </a:solidFill>
              </a:rPr>
              <a:t>5</a:t>
            </a:r>
            <a:endParaRPr lang="tr-TR" sz="1600" dirty="0"/>
          </a:p>
        </p:txBody>
      </p:sp>
      <p:sp>
        <p:nvSpPr>
          <p:cNvPr id="12" name="İçindekiler madde 5"/>
          <p:cNvSpPr txBox="1"/>
          <p:nvPr/>
        </p:nvSpPr>
        <p:spPr>
          <a:xfrm>
            <a:off x="1554480" y="373075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800" b="1" dirty="0">
                <a:solidFill>
                  <a:schemeClr val="tx1"/>
                </a:solidFill>
              </a:rPr>
              <a:t>Kaynakça</a:t>
            </a:r>
            <a:endParaRPr lang="tr-TR" sz="1800" dirty="0"/>
          </a:p>
          <a:p>
            <a:pPr indent="0" marL="0">
              <a:buNone/>
            </a:pPr>
            <a:r>
              <a:rPr lang="tr-TR" sz="1300" dirty="0">
                <a:solidFill>
                  <a:schemeClr val="tx2"/>
                </a:solidFill>
              </a:rPr>
              <a:t>Kullanılan kaynaklar</a:t>
            </a:r>
            <a:endParaRPr lang="tr-T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617720"/>
            <a:ext cx="50292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tr-TR"/>
              <a:t>2</a:t>
            </a:fld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731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tr-TR" sz="3000" dirty="0">
                <a:solidFill>
                  <a:schemeClr val="bg1"/>
                </a:solidFill>
              </a:rPr>
              <a:t>Giriş</a:t>
            </a:r>
            <a:endParaRPr lang="tr-TR" sz="3000" dirty="0"/>
          </a:p>
        </p:txBody>
      </p:sp>
      <p:sp>
        <p:nvSpPr>
          <p:cNvPr id="3" name="Giriş vurgu"/>
          <p:cNvSpPr txBox="1"/>
          <p:nvPr/>
        </p:nvSpPr>
        <p:spPr>
          <a:xfrm>
            <a:off x="548640" y="13716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32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bu konu?</a:t>
            </a:r>
            <a:endParaRPr lang="tr-TR" sz="3200" dirty="0"/>
          </a:p>
        </p:txBody>
      </p:sp>
      <p:sp>
        <p:nvSpPr>
          <p:cNvPr id="4" name="Giriş kart"/>
          <p:cNvSpPr/>
          <p:nvPr/>
        </p:nvSpPr>
        <p:spPr>
          <a:xfrm>
            <a:off x="3566160" y="1143000"/>
            <a:ext cx="4114800" cy="2743200"/>
          </a:xfrm>
          <a:prstGeom prst="roundRect">
            <a:avLst>
              <a:gd name="adj" fmla="val 2667"/>
            </a:avLst>
          </a:prstGeom>
          <a:solidFill>
            <a:schemeClr val="bg1">
              <a:alpha val="75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5" name="Giriş maddeler"/>
          <p:cNvSpPr txBox="1"/>
          <p:nvPr/>
        </p:nvSpPr>
        <p:spPr>
          <a:xfrm>
            <a:off x="3749040" y="1280160"/>
            <a:ext cx="3794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600" dirty="0">
                <a:solidFill>
                  <a:schemeClr val="tx1"/>
                </a:solidFill>
              </a:rPr>
              <a:t>Çalışılan malzeme / sistem nedir?</a:t>
            </a:r>
            <a:endParaRPr lang="tr-TR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600" dirty="0">
                <a:solidFill>
                  <a:schemeClr val="tx1"/>
                </a:solidFill>
              </a:rPr>
              <a:t>Literatürde bilinenler (Soyad, Yıl)</a:t>
            </a:r>
            <a:endParaRPr lang="tr-TR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600" dirty="0">
                <a:solidFill>
                  <a:schemeClr val="tx1"/>
                </a:solidFill>
              </a:rPr>
              <a:t>Bu çalışmanın amacı</a:t>
            </a:r>
            <a:endParaRPr lang="tr-TR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600" dirty="0">
                <a:solidFill>
                  <a:schemeClr val="tx1"/>
                </a:solidFill>
              </a:rPr>
              <a:t>Sunumun sonunda ne göstereceğiz?</a:t>
            </a:r>
            <a:endParaRPr lang="tr-T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617720"/>
            <a:ext cx="50292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tr-TR"/>
              <a:t>3</a:t>
            </a:fld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60020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7200" b="1" dirty="0">
                <a:solidFill>
                  <a:schemeClr val="accent1"/>
                </a:solidFill>
              </a:rPr>
              <a:t>02</a:t>
            </a:r>
            <a:endParaRPr lang="tr-TR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2103120" y="16002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tr-TR" sz="3600" dirty="0">
                <a:solidFill>
                  <a:schemeClr val="tx1"/>
                </a:solidFill>
              </a:rPr>
              <a:t>Yöntem</a:t>
            </a:r>
            <a:endParaRPr lang="tr-TR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2103120" y="24231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tr-TR" sz="1600" dirty="0">
                <a:solidFill>
                  <a:schemeClr val="tx2"/>
                </a:solidFill>
              </a:rPr>
              <a:t>Hesaplama yöntemi, kullanılan program ve parametreler</a:t>
            </a:r>
            <a:endParaRPr lang="tr-T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617720"/>
            <a:ext cx="50292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tr-TR"/>
              <a:t>4</a:t>
            </a:fld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731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tr-TR" sz="3000" dirty="0">
                <a:solidFill>
                  <a:schemeClr val="bg1"/>
                </a:solidFill>
              </a:rPr>
              <a:t>Hesaplama Detayları</a:t>
            </a:r>
            <a:endParaRPr lang="tr-TR" sz="3000" dirty="0"/>
          </a:p>
        </p:txBody>
      </p:sp>
      <p:sp>
        <p:nvSpPr>
          <p:cNvPr id="3" name="Yöntem maddeler"/>
          <p:cNvSpPr txBox="1"/>
          <p:nvPr/>
        </p:nvSpPr>
        <p:spPr>
          <a:xfrm>
            <a:off x="548640" y="109728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500" dirty="0">
                <a:solidFill>
                  <a:schemeClr val="tx1"/>
                </a:solidFill>
              </a:rPr>
              <a:t>Program: VASP (Kresse &amp; Furthmüller, 1996)</a:t>
            </a:r>
            <a:endParaRPr lang="tr-TR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500" dirty="0">
                <a:solidFill>
                  <a:schemeClr val="tx1"/>
                </a:solidFill>
              </a:rPr>
              <a:t>Potansiyel: PAW (Kresse &amp; Joubert, 1999)</a:t>
            </a:r>
            <a:endParaRPr lang="tr-TR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500" dirty="0">
                <a:solidFill>
                  <a:schemeClr val="tx1"/>
                </a:solidFill>
              </a:rPr>
              <a:t>Fonksiyonel: PBE-GGA (Perdew vd., 1996)</a:t>
            </a:r>
            <a:endParaRPr lang="tr-TR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500" dirty="0">
                <a:solidFill>
                  <a:schemeClr val="tx1"/>
                </a:solidFill>
              </a:rPr>
              <a:t>Kesme enerjisi: ENCUT = 600 eV</a:t>
            </a:r>
            <a:endParaRPr lang="tr-TR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500" dirty="0">
                <a:solidFill>
                  <a:schemeClr val="tx1"/>
                </a:solidFill>
              </a:rPr>
              <a:t>k-nokta ağı: 16 × 16 × 1 (Γ merkezli)</a:t>
            </a:r>
            <a:endParaRPr lang="tr-TR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500" dirty="0">
                <a:solidFill>
                  <a:schemeClr val="tx1"/>
                </a:solidFill>
              </a:rPr>
              <a:t>Yakınsama: EDIFF = 1E-8</a:t>
            </a:r>
            <a:endParaRPr lang="tr-TR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500" dirty="0">
                <a:solidFill>
                  <a:schemeClr val="tx1"/>
                </a:solidFill>
              </a:rPr>
              <a:t>Vakum: 20 Å (2D yapılar için)</a:t>
            </a:r>
            <a:endParaRPr lang="tr-TR" sz="1500" dirty="0"/>
          </a:p>
        </p:txBody>
      </p:sp>
      <p:sp>
        <p:nvSpPr>
          <p:cNvPr id="4" name="Yöntem görsel alanı"/>
          <p:cNvSpPr/>
          <p:nvPr/>
        </p:nvSpPr>
        <p:spPr>
          <a:xfrm>
            <a:off x="4709160" y="1143000"/>
            <a:ext cx="2971800" cy="2606040"/>
          </a:xfrm>
          <a:prstGeom prst="roundRect">
            <a:avLst>
              <a:gd name="adj" fmla="val 2105"/>
            </a:avLst>
          </a:prstGeom>
          <a:solidFill>
            <a:schemeClr val="bg1">
              <a:alpha val="60000"/>
            </a:scheme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5" name="Yöntem görsel alanı etiket"/>
          <p:cNvSpPr txBox="1"/>
          <p:nvPr/>
        </p:nvSpPr>
        <p:spPr>
          <a:xfrm>
            <a:off x="4709160" y="1143000"/>
            <a:ext cx="29718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400" i="1" dirty="0">
                <a:solidFill>
                  <a:schemeClr val="accent1"/>
                </a:solidFill>
              </a:rPr>
              <a:t>Yapı görseli buraya</a:t>
            </a:r>
            <a:endParaRPr lang="tr-TR" sz="1400" dirty="0"/>
          </a:p>
          <a:p>
            <a:pPr algn="ctr" indent="0" marL="0">
              <a:buNone/>
            </a:pPr>
            <a:r>
              <a:rPr lang="tr-TR" sz="1400" i="1" dirty="0">
                <a:solidFill>
                  <a:schemeClr val="accent1"/>
                </a:solidFill>
              </a:rPr>
              <a:t>(VESTA vb.)</a:t>
            </a:r>
            <a:endParaRPr lang="tr-TR" sz="1400" dirty="0"/>
          </a:p>
        </p:txBody>
      </p:sp>
      <p:sp>
        <p:nvSpPr>
          <p:cNvPr id="6" name="Yöntem şekil altı"/>
          <p:cNvSpPr txBox="1"/>
          <p:nvPr/>
        </p:nvSpPr>
        <p:spPr>
          <a:xfrm>
            <a:off x="4709160" y="3794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100" i="1" dirty="0">
                <a:solidFill>
                  <a:schemeClr val="tx2"/>
                </a:solidFill>
              </a:rPr>
              <a:t>Şekil 1: Kısa şekil açıklaması.</a:t>
            </a:r>
            <a:endParaRPr lang="tr-T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617720"/>
            <a:ext cx="50292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tr-TR"/>
              <a:t>5</a:t>
            </a:fld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731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tr-TR" sz="3000" dirty="0">
                <a:solidFill>
                  <a:schemeClr val="bg1"/>
                </a:solidFill>
              </a:rPr>
              <a:t>Girdi Dosyası: INCAR</a:t>
            </a:r>
            <a:endParaRPr lang="tr-TR" sz="3000" dirty="0"/>
          </a:p>
        </p:txBody>
      </p:sp>
      <p:sp>
        <p:nvSpPr>
          <p:cNvPr id="3" name="Terminal kutusu"/>
          <p:cNvSpPr/>
          <p:nvPr/>
        </p:nvSpPr>
        <p:spPr>
          <a:xfrm>
            <a:off x="548640" y="1097280"/>
            <a:ext cx="4023360" cy="31089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rminal metni"/>
          <p:cNvSpPr txBox="1"/>
          <p:nvPr/>
        </p:nvSpPr>
        <p:spPr>
          <a:xfrm>
            <a:off x="685800" y="118872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tr-TR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Silicene</a:t>
            </a:r>
            <a:endParaRPr lang="tr-TR" sz="1400" dirty="0"/>
          </a:p>
          <a:p>
            <a:pPr indent="0" marL="0">
              <a:lnSpc>
                <a:spcPct val="110000"/>
              </a:lnSpc>
              <a:buNone/>
            </a:pPr>
            <a:r>
              <a:rPr lang="tr-TR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ENCUT  = 600</a:t>
            </a:r>
            <a:endParaRPr lang="tr-TR" sz="1400" dirty="0"/>
          </a:p>
          <a:p>
            <a:pPr indent="0" marL="0">
              <a:lnSpc>
                <a:spcPct val="110000"/>
              </a:lnSpc>
              <a:buNone/>
            </a:pPr>
            <a:r>
              <a:rPr lang="tr-TR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ISMEAR = 0</a:t>
            </a:r>
            <a:endParaRPr lang="tr-TR" sz="1400" dirty="0"/>
          </a:p>
          <a:p>
            <a:pPr indent="0" marL="0">
              <a:lnSpc>
                <a:spcPct val="110000"/>
              </a:lnSpc>
              <a:buNone/>
            </a:pPr>
            <a:r>
              <a:rPr lang="tr-TR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SIGMA  = 0.01</a:t>
            </a:r>
            <a:endParaRPr lang="tr-TR" sz="1400" dirty="0"/>
          </a:p>
          <a:p>
            <a:pPr indent="0" marL="0">
              <a:lnSpc>
                <a:spcPct val="110000"/>
              </a:lnSpc>
              <a:buNone/>
            </a:pPr>
            <a:r>
              <a:rPr lang="tr-TR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EDIFF  = 1E-8</a:t>
            </a:r>
            <a:endParaRPr lang="tr-TR" sz="1400" dirty="0"/>
          </a:p>
          <a:p>
            <a:pPr indent="0" marL="0">
              <a:lnSpc>
                <a:spcPct val="110000"/>
              </a:lnSpc>
              <a:buNone/>
            </a:pPr>
            <a:r>
              <a:rPr lang="tr-TR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ISPIN  = 1</a:t>
            </a:r>
            <a:endParaRPr lang="tr-TR" sz="1400" dirty="0"/>
          </a:p>
          <a:p>
            <a:pPr indent="0" marL="0">
              <a:lnSpc>
                <a:spcPct val="110000"/>
              </a:lnSpc>
              <a:buNone/>
            </a:pPr>
            <a:r>
              <a:rPr lang="tr-TR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IBRION = 2</a:t>
            </a:r>
            <a:endParaRPr lang="tr-TR" sz="1400" dirty="0"/>
          </a:p>
          <a:p>
            <a:pPr indent="0" marL="0">
              <a:lnSpc>
                <a:spcPct val="110000"/>
              </a:lnSpc>
              <a:buNone/>
            </a:pPr>
            <a:r>
              <a:rPr lang="tr-TR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GGA    = PE</a:t>
            </a:r>
            <a:endParaRPr lang="tr-TR" sz="1400" dirty="0"/>
          </a:p>
        </p:txBody>
      </p:sp>
      <p:sp>
        <p:nvSpPr>
          <p:cNvPr id="5" name="Parametre kartı 1"/>
          <p:cNvSpPr/>
          <p:nvPr/>
        </p:nvSpPr>
        <p:spPr>
          <a:xfrm>
            <a:off x="4846320" y="1097280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bg1">
              <a:alpha val="75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6" name="Parametre metni 1"/>
          <p:cNvSpPr txBox="1"/>
          <p:nvPr/>
        </p:nvSpPr>
        <p:spPr>
          <a:xfrm>
            <a:off x="4956048" y="1097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ENCUT</a:t>
            </a:r>
            <a:endParaRPr lang="tr-TR" sz="1300" dirty="0"/>
          </a:p>
          <a:p>
            <a:pPr indent="0" marL="0">
              <a:buNone/>
            </a:pPr>
            <a:r>
              <a:rPr lang="tr-TR" sz="1200" dirty="0">
                <a:solidFill>
                  <a:schemeClr val="tx1"/>
                </a:solidFill>
              </a:rPr>
              <a:t>Düzlem dalga kesme enerjisi (eV)</a:t>
            </a:r>
            <a:endParaRPr lang="tr-TR" sz="1300" dirty="0"/>
          </a:p>
        </p:txBody>
      </p:sp>
      <p:sp>
        <p:nvSpPr>
          <p:cNvPr id="7" name="Parametre kartı 2"/>
          <p:cNvSpPr/>
          <p:nvPr/>
        </p:nvSpPr>
        <p:spPr>
          <a:xfrm>
            <a:off x="4846320" y="1847088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bg1">
              <a:alpha val="75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8" name="Parametre metni 2"/>
          <p:cNvSpPr txBox="1"/>
          <p:nvPr/>
        </p:nvSpPr>
        <p:spPr>
          <a:xfrm>
            <a:off x="4956048" y="18470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ISMEAR / SIGMA</a:t>
            </a:r>
            <a:endParaRPr lang="tr-TR" sz="1300" dirty="0"/>
          </a:p>
          <a:p>
            <a:pPr indent="0" marL="0">
              <a:buNone/>
            </a:pPr>
            <a:r>
              <a:rPr lang="tr-TR" sz="1200" dirty="0">
                <a:solidFill>
                  <a:schemeClr val="tx1"/>
                </a:solidFill>
              </a:rPr>
              <a:t>Kısmi doluluk yöntemi ve genişliği</a:t>
            </a:r>
            <a:endParaRPr lang="tr-TR" sz="1300" dirty="0"/>
          </a:p>
        </p:txBody>
      </p:sp>
      <p:sp>
        <p:nvSpPr>
          <p:cNvPr id="9" name="Parametre kartı 3"/>
          <p:cNvSpPr/>
          <p:nvPr/>
        </p:nvSpPr>
        <p:spPr>
          <a:xfrm>
            <a:off x="4846320" y="2596896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bg1">
              <a:alpha val="75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0" name="Parametre metni 3"/>
          <p:cNvSpPr txBox="1"/>
          <p:nvPr/>
        </p:nvSpPr>
        <p:spPr>
          <a:xfrm>
            <a:off x="4956048" y="25968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EDIFF</a:t>
            </a:r>
            <a:endParaRPr lang="tr-TR" sz="1300" dirty="0"/>
          </a:p>
          <a:p>
            <a:pPr indent="0" marL="0">
              <a:buNone/>
            </a:pPr>
            <a:r>
              <a:rPr lang="tr-TR" sz="1200" dirty="0">
                <a:solidFill>
                  <a:schemeClr val="tx1"/>
                </a:solidFill>
              </a:rPr>
              <a:t>Elektronik döngü durma ölçütü</a:t>
            </a:r>
            <a:endParaRPr lang="tr-TR" sz="1300" dirty="0"/>
          </a:p>
        </p:txBody>
      </p:sp>
      <p:sp>
        <p:nvSpPr>
          <p:cNvPr id="11" name="Parametre kartı 4"/>
          <p:cNvSpPr/>
          <p:nvPr/>
        </p:nvSpPr>
        <p:spPr>
          <a:xfrm>
            <a:off x="4846320" y="3346704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bg1">
              <a:alpha val="75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2" name="Parametre metni 4"/>
          <p:cNvSpPr txBox="1"/>
          <p:nvPr/>
        </p:nvSpPr>
        <p:spPr>
          <a:xfrm>
            <a:off x="4956048" y="33467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GGA = PE</a:t>
            </a:r>
            <a:endParaRPr lang="tr-TR" sz="1300" dirty="0"/>
          </a:p>
          <a:p>
            <a:pPr indent="0" marL="0">
              <a:buNone/>
            </a:pPr>
            <a:r>
              <a:rPr lang="tr-TR" sz="1200" dirty="0">
                <a:solidFill>
                  <a:schemeClr val="tx1"/>
                </a:solidFill>
              </a:rPr>
              <a:t>PBE fonksiyoneli (Perdew vd., 1996)</a:t>
            </a:r>
            <a:endParaRPr lang="tr-T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617720"/>
            <a:ext cx="50292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tr-TR"/>
              <a:t>6</a:t>
            </a:fld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60020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tr-TR" sz="7200" b="1" dirty="0">
                <a:solidFill>
                  <a:schemeClr val="accent1"/>
                </a:solidFill>
              </a:rPr>
              <a:t>03</a:t>
            </a:r>
            <a:endParaRPr lang="tr-TR" sz="7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2103120" y="16002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tr-TR" sz="3600" dirty="0">
                <a:solidFill>
                  <a:schemeClr val="tx1"/>
                </a:solidFill>
              </a:rPr>
              <a:t>Bulgular</a:t>
            </a:r>
            <a:endParaRPr lang="tr-TR" sz="3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2103120" y="24231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tr-TR" sz="1600" dirty="0">
                <a:solidFill>
                  <a:schemeClr val="tx2"/>
                </a:solidFill>
              </a:rPr>
              <a:t>Hesap sonuçları ve yorumları</a:t>
            </a:r>
            <a:endParaRPr lang="tr-T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617720"/>
            <a:ext cx="50292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tr-TR"/>
              <a:t>7</a:t>
            </a:fld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731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tr-TR" sz="3000" dirty="0">
                <a:solidFill>
                  <a:schemeClr val="bg1"/>
                </a:solidFill>
              </a:rPr>
              <a:t>Bant Yapısı</a:t>
            </a:r>
            <a:endParaRPr lang="tr-TR" sz="3000" dirty="0"/>
          </a:p>
        </p:txBody>
      </p:sp>
      <p:sp>
        <p:nvSpPr>
          <p:cNvPr id="3" name="Ana şekil alanı"/>
          <p:cNvSpPr/>
          <p:nvPr/>
        </p:nvSpPr>
        <p:spPr>
          <a:xfrm>
            <a:off x="1463040" y="1051560"/>
            <a:ext cx="5120640" cy="3154680"/>
          </a:xfrm>
          <a:prstGeom prst="roundRect">
            <a:avLst>
              <a:gd name="adj" fmla="val 1739"/>
            </a:avLst>
          </a:prstGeom>
          <a:solidFill>
            <a:schemeClr val="bg1">
              <a:alpha val="60000"/>
            </a:scheme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4" name="Ana şekil alanı etiket"/>
          <p:cNvSpPr txBox="1"/>
          <p:nvPr/>
        </p:nvSpPr>
        <p:spPr>
          <a:xfrm>
            <a:off x="1463040" y="1051560"/>
            <a:ext cx="5120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400" i="1" dirty="0">
                <a:solidFill>
                  <a:schemeClr val="accent1"/>
                </a:solidFill>
              </a:rPr>
              <a:t>Grafik / şekil buraya</a:t>
            </a:r>
            <a:endParaRPr lang="tr-TR" sz="1400" dirty="0"/>
          </a:p>
          <a:p>
            <a:pPr algn="ctr" indent="0" marL="0">
              <a:buNone/>
            </a:pPr>
            <a:r>
              <a:rPr lang="tr-TR" sz="1400" i="1" dirty="0">
                <a:solidFill>
                  <a:schemeClr val="accent1"/>
                </a:solidFill>
              </a:rPr>
              <a:t>(ör. Γ–M–K–Γ bant yapısı)</a:t>
            </a:r>
            <a:endParaRPr lang="tr-TR" sz="1400" dirty="0"/>
          </a:p>
        </p:txBody>
      </p:sp>
      <p:sp>
        <p:nvSpPr>
          <p:cNvPr id="5" name="Ana şekil altı"/>
          <p:cNvSpPr txBox="1"/>
          <p:nvPr/>
        </p:nvSpPr>
        <p:spPr>
          <a:xfrm>
            <a:off x="1463040" y="4251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tr-TR" sz="1100" i="1" dirty="0">
                <a:solidFill>
                  <a:schemeClr val="tx2"/>
                </a:solidFill>
              </a:rPr>
              <a:t>Şekil 2: Şekil açıklaması; veri kaynağı veya program belirtin.</a:t>
            </a:r>
            <a:endParaRPr lang="tr-T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617720"/>
            <a:ext cx="50292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tr-TR"/>
              <a:t>8</a:t>
            </a:fld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731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tr-TR" sz="3000" dirty="0">
                <a:solidFill>
                  <a:schemeClr val="bg1"/>
                </a:solidFill>
              </a:rPr>
              <a:t>Sonuçların Karşılaştırması</a:t>
            </a:r>
            <a:endParaRPr lang="tr-TR" sz="3000" dirty="0"/>
          </a:p>
        </p:txBody>
      </p:sp>
      <p:sp>
        <p:nvSpPr>
          <p:cNvPr id="3" name="Tablo başlığı"/>
          <p:cNvSpPr txBox="1"/>
          <p:nvPr/>
        </p:nvSpPr>
        <p:spPr>
          <a:xfrm>
            <a:off x="548640" y="1005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1400" b="1" dirty="0">
                <a:solidFill>
                  <a:schemeClr val="tx1"/>
                </a:solidFill>
              </a:rPr>
              <a:t>Tablo 1</a:t>
            </a:r>
            <a:endParaRPr lang="tr-TR" sz="1400" dirty="0"/>
          </a:p>
          <a:p>
            <a:pPr indent="0" marL="0">
              <a:buNone/>
            </a:pPr>
            <a:r>
              <a:rPr lang="tr-TR" sz="1400" i="1" dirty="0">
                <a:solidFill>
                  <a:schemeClr val="tx1"/>
                </a:solidFill>
              </a:rPr>
              <a:t>Silisenin hesaplanan yapısal ve elektronik özellikleri</a:t>
            </a:r>
            <a:endParaRPr lang="tr-TR" sz="1400" dirty="0"/>
          </a:p>
        </p:txBody>
      </p:sp>
      <p:graphicFrame>
        <p:nvGraphicFramePr>
          <p:cNvPr id="10" name="Bulgu tablos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1323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FFFFFF"/>
                          </a:solidFill>
                        </a:rPr>
                        <a:t>Özellik</a:t>
                      </a:r>
                      <a:endParaRPr lang="tr-TR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FFFFFF"/>
                          </a:solidFill>
                        </a:rPr>
                        <a:t>Bu çalışma</a:t>
                      </a:r>
                      <a:endParaRPr lang="tr-TR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9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b="1" dirty="0">
                          <a:solidFill>
                            <a:srgbClr val="FFFFFF"/>
                          </a:solidFill>
                        </a:rPr>
                        <a:t>Literatür</a:t>
                      </a:r>
                      <a:endParaRPr lang="tr-TR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9A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1F1F24"/>
                          </a:solidFill>
                        </a:rPr>
                        <a:t>Örgü sabiti, a (Å)</a:t>
                      </a:r>
                      <a:endParaRPr lang="tr-TR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1F1F24"/>
                          </a:solidFill>
                        </a:rPr>
                        <a:t>3.87</a:t>
                      </a:r>
                      <a:endParaRPr lang="tr-TR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i="1" dirty="0">
                          <a:solidFill>
                            <a:srgbClr val="2E2A6E"/>
                          </a:solidFill>
                        </a:rPr>
                        <a:t>x.xx (Soyad, Yıl)</a:t>
                      </a:r>
                      <a:endParaRPr lang="tr-TR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1F1F24"/>
                          </a:solidFill>
                        </a:rPr>
                        <a:t>Bükülme, Δ (Å)</a:t>
                      </a:r>
                      <a:endParaRPr lang="tr-TR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1F1F24"/>
                          </a:solidFill>
                        </a:rPr>
                        <a:t>0.45</a:t>
                      </a:r>
                      <a:endParaRPr lang="tr-TR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i="1" dirty="0">
                          <a:solidFill>
                            <a:srgbClr val="2E2A6E"/>
                          </a:solidFill>
                        </a:rPr>
                        <a:t>x.xx (Soyad, Yıl)</a:t>
                      </a:r>
                      <a:endParaRPr lang="tr-TR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1F1F24"/>
                          </a:solidFill>
                        </a:rPr>
                        <a:t>Bant aralığı, Eg (eV)</a:t>
                      </a:r>
                      <a:endParaRPr lang="tr-TR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dirty="0">
                          <a:solidFill>
                            <a:srgbClr val="1F1F24"/>
                          </a:solidFill>
                        </a:rPr>
                        <a:t>0.00 (K noktasında Dirac konisi)</a:t>
                      </a:r>
                      <a:endParaRPr lang="tr-TR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tr-TR" sz="1400" i="1" dirty="0">
                          <a:solidFill>
                            <a:srgbClr val="2E2A6E"/>
                          </a:solidFill>
                        </a:rPr>
                        <a:t>x.xx (Soyad, Yıl)</a:t>
                      </a:r>
                      <a:endParaRPr lang="tr-TR" sz="14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7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4"/>
                    </a:solidFill>
                  </a:tcPr>
                </a:tc>
              </a:tr>
            </a:tbl>
          </a:graphicData>
        </a:graphic>
      </p:graphicFrame>
      <p:sp>
        <p:nvSpPr>
          <p:cNvPr id="5" name="Tablo notu"/>
          <p:cNvSpPr txBox="1"/>
          <p:nvPr/>
        </p:nvSpPr>
        <p:spPr>
          <a:xfrm>
            <a:off x="548640" y="34290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sz="1200" i="1" dirty="0">
                <a:solidFill>
                  <a:schemeClr val="tx2"/>
                </a:solidFill>
              </a:rPr>
              <a:t>Not. </a:t>
            </a:r>
            <a:pPr indent="0" marL="0">
              <a:buNone/>
            </a:pPr>
            <a:r>
              <a:rPr lang="tr-TR" sz="1200" dirty="0">
                <a:solidFill>
                  <a:schemeClr val="tx2"/>
                </a:solidFill>
              </a:rPr>
              <a:t>Değerler Band_Calculation_w_vasp örneğinden alınmıştır (PBE, 16 × 16 × 1 k-noktası); kendi sonuçlarınızla ve karşılaştırdığınız kaynaklarla değiştirin.</a:t>
            </a:r>
            <a:endParaRPr lang="tr-T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617720"/>
            <a:ext cx="50292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tr-TR"/>
              <a:t>9</a:t>
            </a:fld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731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tr-TR" sz="3000" dirty="0">
                <a:solidFill>
                  <a:schemeClr val="bg1"/>
                </a:solidFill>
              </a:rPr>
              <a:t>Sonuç</a:t>
            </a:r>
            <a:endParaRPr lang="tr-TR" sz="3000" dirty="0"/>
          </a:p>
        </p:txBody>
      </p:sp>
      <p:sp>
        <p:nvSpPr>
          <p:cNvPr id="3" name="Sonuç kart 1"/>
          <p:cNvSpPr/>
          <p:nvPr/>
        </p:nvSpPr>
        <p:spPr>
          <a:xfrm>
            <a:off x="548640" y="1143000"/>
            <a:ext cx="3383280" cy="2286000"/>
          </a:xfrm>
          <a:prstGeom prst="roundRect">
            <a:avLst>
              <a:gd name="adj" fmla="val 3200"/>
            </a:avLst>
          </a:prstGeom>
          <a:solidFill>
            <a:schemeClr val="bg1">
              <a:alpha val="75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4" name="Sonuç başlık 1"/>
          <p:cNvSpPr txBox="1"/>
          <p:nvPr/>
        </p:nvSpPr>
        <p:spPr>
          <a:xfrm>
            <a:off x="77724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Özet</a:t>
            </a:r>
            <a:endParaRPr lang="tr-TR" sz="2000" dirty="0"/>
          </a:p>
        </p:txBody>
      </p:sp>
      <p:sp>
        <p:nvSpPr>
          <p:cNvPr id="5" name="Sonuç maddeler 1"/>
          <p:cNvSpPr txBox="1"/>
          <p:nvPr/>
        </p:nvSpPr>
        <p:spPr>
          <a:xfrm>
            <a:off x="777240" y="18288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500" dirty="0">
                <a:solidFill>
                  <a:schemeClr val="tx1"/>
                </a:solidFill>
              </a:rPr>
              <a:t>Ana bulgu 1</a:t>
            </a:r>
            <a:endParaRPr lang="tr-TR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500" dirty="0">
                <a:solidFill>
                  <a:schemeClr val="tx1"/>
                </a:solidFill>
              </a:rPr>
              <a:t>Ana bulgu 2</a:t>
            </a:r>
            <a:endParaRPr lang="tr-TR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500" dirty="0">
                <a:solidFill>
                  <a:schemeClr val="tx1"/>
                </a:solidFill>
              </a:rPr>
              <a:t>Literatürle karşılaştırma</a:t>
            </a:r>
            <a:endParaRPr lang="tr-TR" sz="1500" dirty="0"/>
          </a:p>
        </p:txBody>
      </p:sp>
      <p:sp>
        <p:nvSpPr>
          <p:cNvPr id="6" name="Sonuç kart 2"/>
          <p:cNvSpPr/>
          <p:nvPr/>
        </p:nvSpPr>
        <p:spPr>
          <a:xfrm>
            <a:off x="4206240" y="1143000"/>
            <a:ext cx="3383280" cy="2286000"/>
          </a:xfrm>
          <a:prstGeom prst="roundRect">
            <a:avLst>
              <a:gd name="adj" fmla="val 3200"/>
            </a:avLst>
          </a:prstGeom>
          <a:solidFill>
            <a:schemeClr val="bg1">
              <a:alpha val="75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7" name="Sonuç başlık 2"/>
          <p:cNvSpPr txBox="1"/>
          <p:nvPr/>
        </p:nvSpPr>
        <p:spPr>
          <a:xfrm>
            <a:off x="443484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Sonraki adımlar</a:t>
            </a:r>
            <a:endParaRPr lang="tr-TR" sz="2000" dirty="0"/>
          </a:p>
        </p:txBody>
      </p:sp>
      <p:sp>
        <p:nvSpPr>
          <p:cNvPr id="8" name="Sonuç maddeler 2"/>
          <p:cNvSpPr txBox="1"/>
          <p:nvPr/>
        </p:nvSpPr>
        <p:spPr>
          <a:xfrm>
            <a:off x="4434840" y="18288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500" dirty="0">
                <a:solidFill>
                  <a:schemeClr val="tx1"/>
                </a:solidFill>
              </a:rPr>
              <a:t>Spin–yörünge etkileşimi (SOC)</a:t>
            </a:r>
            <a:endParaRPr lang="tr-TR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500" dirty="0">
                <a:solidFill>
                  <a:schemeClr val="tx1"/>
                </a:solidFill>
              </a:rPr>
              <a:t>Gerilme / katkılama etkisi</a:t>
            </a:r>
            <a:endParaRPr lang="tr-TR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tr-TR" sz="1500" dirty="0">
                <a:solidFill>
                  <a:schemeClr val="tx1"/>
                </a:solidFill>
              </a:rPr>
              <a:t>DOS ve PDOS analizi</a:t>
            </a:r>
            <a:endParaRPr lang="tr-T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617720"/>
            <a:ext cx="50292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tr-TR"/>
              <a:t>10</a:t>
            </a:fld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7315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tr-TR" sz="3000" dirty="0">
                <a:solidFill>
                  <a:schemeClr val="bg1"/>
                </a:solidFill>
              </a:rPr>
              <a:t>Kaynakça</a:t>
            </a:r>
            <a:endParaRPr lang="tr-TR" sz="3000" dirty="0"/>
          </a:p>
        </p:txBody>
      </p:sp>
      <p:sp>
        <p:nvSpPr>
          <p:cNvPr id="3" name="Kaynak listesi"/>
          <p:cNvSpPr txBox="1"/>
          <p:nvPr/>
        </p:nvSpPr>
        <p:spPr>
          <a:xfrm>
            <a:off x="548640" y="1051560"/>
            <a:ext cx="7132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600"/>
              </a:spcAft>
              <a:buNone/>
            </a:pPr>
            <a:r>
              <a:rPr lang="tr-TR" sz="1300" dirty="0">
                <a:solidFill>
                  <a:schemeClr val="tx1"/>
                </a:solidFill>
              </a:rPr>
              <a:t>Kresse, G., &amp; Furthmüller, J. (1996). Efficient iterative schemes for </a:t>
            </a:r>
            <a:pPr indent="0" marL="0">
              <a:spcAft>
                <a:spcPts val="600"/>
              </a:spcAft>
              <a:buNone/>
            </a:pPr>
            <a:r>
              <a:rPr lang="tr-TR" sz="1300" i="1" dirty="0">
                <a:solidFill>
                  <a:schemeClr val="tx1"/>
                </a:solidFill>
              </a:rPr>
              <a:t>ab initio</a:t>
            </a:r>
            <a:pPr indent="0" marL="0">
              <a:spcAft>
                <a:spcPts val="600"/>
              </a:spcAft>
              <a:buNone/>
            </a:pPr>
            <a:r>
              <a:rPr lang="tr-TR" sz="1300" dirty="0">
                <a:solidFill>
                  <a:schemeClr val="tx1"/>
                </a:solidFill>
              </a:rPr>
              <a:t> total-energy calculations using a plane-wave basis set. </a:t>
            </a:r>
            <a:pPr indent="0" marL="0">
              <a:spcAft>
                <a:spcPts val="600"/>
              </a:spcAft>
              <a:buNone/>
            </a:pPr>
            <a:r>
              <a:rPr lang="tr-TR" sz="1300" i="1" dirty="0">
                <a:solidFill>
                  <a:schemeClr val="tx1"/>
                </a:solidFill>
              </a:rPr>
              <a:t>Physical Review B, 54</a:t>
            </a:r>
            <a:pPr indent="0" marL="0">
              <a:spcAft>
                <a:spcPts val="600"/>
              </a:spcAft>
              <a:buNone/>
            </a:pPr>
            <a:r>
              <a:rPr lang="tr-TR" sz="1300" dirty="0">
                <a:solidFill>
                  <a:schemeClr val="tx1"/>
                </a:solidFill>
              </a:rPr>
              <a:t>(16), 11169–11186. https://doi.org/10.1103/PhysRevB.54.11169</a:t>
            </a:r>
            <a:endParaRPr lang="tr-TR" sz="1300" dirty="0"/>
          </a:p>
          <a:p>
            <a:pPr marL="279400" indent="-279400">
              <a:spcAft>
                <a:spcPts val="600"/>
              </a:spcAft>
              <a:buNone/>
            </a:pPr>
            <a:r>
              <a:rPr lang="tr-TR" sz="1300" dirty="0">
                <a:solidFill>
                  <a:schemeClr val="tx1"/>
                </a:solidFill>
              </a:rPr>
              <a:t>Kresse, G., &amp; Joubert, D. (1999). From ultrasoft pseudopotentials to the projector augmented-wave method. </a:t>
            </a:r>
            <a:pPr indent="0" marL="0">
              <a:spcAft>
                <a:spcPts val="600"/>
              </a:spcAft>
              <a:buNone/>
            </a:pPr>
            <a:r>
              <a:rPr lang="tr-TR" sz="1300" i="1" dirty="0">
                <a:solidFill>
                  <a:schemeClr val="tx1"/>
                </a:solidFill>
              </a:rPr>
              <a:t>Physical Review B, 59</a:t>
            </a:r>
            <a:pPr indent="0" marL="0">
              <a:spcAft>
                <a:spcPts val="600"/>
              </a:spcAft>
              <a:buNone/>
            </a:pPr>
            <a:r>
              <a:rPr lang="tr-TR" sz="1300" dirty="0">
                <a:solidFill>
                  <a:schemeClr val="tx1"/>
                </a:solidFill>
              </a:rPr>
              <a:t>(3), 1758–1775. https://doi.org/10.1103/PhysRevB.59.1758</a:t>
            </a:r>
            <a:endParaRPr lang="tr-TR" sz="1300" dirty="0"/>
          </a:p>
          <a:p>
            <a:pPr marL="279400" indent="-279400">
              <a:spcAft>
                <a:spcPts val="600"/>
              </a:spcAft>
              <a:buNone/>
            </a:pPr>
            <a:r>
              <a:rPr lang="tr-TR" sz="1300" dirty="0">
                <a:solidFill>
                  <a:schemeClr val="tx1"/>
                </a:solidFill>
              </a:rPr>
              <a:t>Perdew, J. P., Burke, K., &amp; Ernzerhof, M. (1996). Generalized gradient approximation made simple. </a:t>
            </a:r>
            <a:pPr indent="0" marL="0">
              <a:spcAft>
                <a:spcPts val="600"/>
              </a:spcAft>
              <a:buNone/>
            </a:pPr>
            <a:r>
              <a:rPr lang="tr-TR" sz="1300" i="1" dirty="0">
                <a:solidFill>
                  <a:schemeClr val="tx1"/>
                </a:solidFill>
              </a:rPr>
              <a:t>Physical Review Letters, 77</a:t>
            </a:r>
            <a:pPr indent="0" marL="0">
              <a:spcAft>
                <a:spcPts val="600"/>
              </a:spcAft>
              <a:buNone/>
            </a:pPr>
            <a:r>
              <a:rPr lang="tr-TR" sz="1300" dirty="0">
                <a:solidFill>
                  <a:schemeClr val="tx1"/>
                </a:solidFill>
              </a:rPr>
              <a:t>(18), 3865–3868. https://doi.org/10.1103/PhysRevLett.77.3865</a:t>
            </a:r>
            <a:endParaRPr lang="tr-TR" sz="1300" dirty="0"/>
          </a:p>
          <a:p>
            <a:pPr marL="279400" indent="-279400">
              <a:spcAft>
                <a:spcPts val="600"/>
              </a:spcAft>
              <a:buNone/>
            </a:pPr>
            <a:r>
              <a:rPr lang="tr-TR" sz="1300" dirty="0">
                <a:solidFill>
                  <a:schemeClr val="tx1"/>
                </a:solidFill>
              </a:rPr>
              <a:t>Wang, V., Xu, N., Liu, J.-C., Tang, G., &amp; Geng, W.-T. (2021). VASPKIT: A user-friendly interface facilitating high-throughput computing and analysis using VASP code. </a:t>
            </a:r>
            <a:pPr indent="0" marL="0">
              <a:spcAft>
                <a:spcPts val="600"/>
              </a:spcAft>
              <a:buNone/>
            </a:pPr>
            <a:r>
              <a:rPr lang="tr-TR" sz="1300" i="1" dirty="0">
                <a:solidFill>
                  <a:schemeClr val="tx1"/>
                </a:solidFill>
              </a:rPr>
              <a:t>Computer Physics Communications, 267</a:t>
            </a:r>
            <a:pPr indent="0" marL="0">
              <a:spcAft>
                <a:spcPts val="600"/>
              </a:spcAft>
              <a:buNone/>
            </a:pPr>
            <a:r>
              <a:rPr lang="tr-TR" sz="1300" dirty="0">
                <a:solidFill>
                  <a:schemeClr val="tx1"/>
                </a:solidFill>
              </a:rPr>
              <a:t>, 108033. https://doi.org/10.1016/j.cpc.2021.108033</a:t>
            </a:r>
            <a:endParaRPr lang="tr-TR" sz="1300" dirty="0"/>
          </a:p>
          <a:p>
            <a:pPr marL="279400" indent="-279400">
              <a:spcAft>
                <a:spcPts val="600"/>
              </a:spcAft>
              <a:buNone/>
            </a:pPr>
            <a:r>
              <a:rPr lang="tr-TR" sz="1300" dirty="0">
                <a:solidFill>
                  <a:schemeClr val="tx1"/>
                </a:solidFill>
              </a:rPr>
              <a:t>Yazar, A. A., &amp; Yazar, B. B. (Yıl). Makale başlığı. </a:t>
            </a:r>
            <a:pPr indent="0" marL="0">
              <a:spcAft>
                <a:spcPts val="600"/>
              </a:spcAft>
              <a:buNone/>
            </a:pPr>
            <a:r>
              <a:rPr lang="tr-TR" sz="1300" i="1" dirty="0">
                <a:solidFill>
                  <a:schemeClr val="tx1"/>
                </a:solidFill>
              </a:rPr>
              <a:t>Dergi Adı, Cilt</a:t>
            </a:r>
            <a:pPr indent="0" marL="0">
              <a:spcAft>
                <a:spcPts val="600"/>
              </a:spcAft>
              <a:buNone/>
            </a:pPr>
            <a:r>
              <a:rPr lang="tr-TR" sz="1300" dirty="0">
                <a:solidFill>
                  <a:schemeClr val="tx1"/>
                </a:solidFill>
              </a:rPr>
              <a:t>(Sayı), sayfa–sayfa. https://doi.org/xx.xxxx</a:t>
            </a:r>
            <a:endParaRPr lang="tr-T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4617720"/>
            <a:ext cx="50292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algn="ctr"/>
            <a:fld id="{F7021451-1387-4CA6-816F-3879F97B5CBC}" type="slidenum">
              <a:rPr b="1" lang="tr-TR"/>
              <a:t>11</a:t>
            </a:fld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80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tr-TR" sz="4400" dirty="0">
                <a:solidFill>
                  <a:schemeClr val="bg1"/>
                </a:solidFill>
              </a:rPr>
              <a:t>Teşekkürler</a:t>
            </a:r>
            <a:endParaRPr lang="tr-TR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2200" dirty="0">
                <a:solidFill>
                  <a:schemeClr val="bg2"/>
                </a:solidFill>
              </a:rPr>
              <a:t>Sorunuz varsa sorabilirsiniz.</a:t>
            </a:r>
            <a:endParaRPr lang="tr-TR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383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bg1"/>
                </a:solidFill>
              </a:rPr>
              <a:t>Ad Soyad</a:t>
            </a:r>
            <a:endParaRPr lang="tr-TR" sz="1400" dirty="0"/>
          </a:p>
          <a:p>
            <a:pPr algn="l" indent="0" marL="0">
              <a:buNone/>
            </a:pPr>
            <a:r>
              <a:rPr lang="tr-TR" sz="1400" dirty="0">
                <a:solidFill>
                  <a:schemeClr val="bg1"/>
                </a:solidFill>
              </a:rPr>
              <a:t>ornek@ogrenci.edu.tr</a:t>
            </a:r>
            <a:endParaRPr lang="tr-TR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MF">
  <a:themeElements>
    <a:clrScheme name="HYMF">
      <a:dk1>
        <a:srgbClr val="1F1F24"/>
      </a:dk1>
      <a:lt1>
        <a:srgbClr val="FFFFFF"/>
      </a:lt1>
      <a:dk2>
        <a:srgbClr val="2E2A6E"/>
      </a:dk2>
      <a:lt2>
        <a:srgbClr val="F6E0B9"/>
      </a:lt2>
      <a:accent1>
        <a:srgbClr val="4649A6"/>
      </a:accent1>
      <a:accent2>
        <a:srgbClr val="0000A8"/>
      </a:accent2>
      <a:accent3>
        <a:srgbClr val="E8792B"/>
      </a:accent3>
      <a:accent4>
        <a:srgbClr val="6AA84F"/>
      </a:accent4>
      <a:accent5>
        <a:srgbClr val="F2C230"/>
      </a:accent5>
      <a:accent6>
        <a:srgbClr val="8E7CC3"/>
      </a:accent6>
      <a:hlink>
        <a:srgbClr val="4649A6"/>
      </a:hlink>
      <a:folHlink>
        <a:srgbClr val="6B5FA8"/>
      </a:folHlink>
    </a:clrScheme>
    <a:fontScheme name="HYMF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HYMF Sunum Taslağı</dc:title>
  <dc:subject>Hesaplamalı Yoğun Madde Fiziği grubu sunum şablonu</dc:subject>
  <dc:creator>HYMF</dc:creator>
  <cp:lastModifiedBy>HYMF</cp:lastModifiedBy>
  <cp:revision>1</cp:revision>
  <dcterms:created xsi:type="dcterms:W3CDTF">2026-10-27T11:28:09Z</dcterms:created>
  <dcterms:modified xsi:type="dcterms:W3CDTF">2026-10-27T11:28:09Z</dcterms:modified>
</cp:coreProperties>
</file>